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71" r:id="rId14"/>
    <p:sldId id="274" r:id="rId15"/>
    <p:sldId id="267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56A664-2C14-4123-97F0-1240906136B7}" v="2" dt="2026-04-13T08:31:50.3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0606559-64A0-4591-90FE-DCDD89975F7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5CAABC5-343E-4A69-8AB9-D06AD543C63F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590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6559-64A0-4591-90FE-DCDD89975F7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ABC5-343E-4A69-8AB9-D06AD543C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4688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6559-64A0-4591-90FE-DCDD89975F7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ABC5-343E-4A69-8AB9-D06AD543C63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309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6559-64A0-4591-90FE-DCDD89975F7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ABC5-343E-4A69-8AB9-D06AD543C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1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6559-64A0-4591-90FE-DCDD89975F7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ABC5-343E-4A69-8AB9-D06AD543C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966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6559-64A0-4591-90FE-DCDD89975F7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ABC5-343E-4A69-8AB9-D06AD543C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944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6559-64A0-4591-90FE-DCDD89975F7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ABC5-343E-4A69-8AB9-D06AD543C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303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6559-64A0-4591-90FE-DCDD89975F7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ABC5-343E-4A69-8AB9-D06AD543C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251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6559-64A0-4591-90FE-DCDD89975F7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ABC5-343E-4A69-8AB9-D06AD543C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51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6559-64A0-4591-90FE-DCDD89975F7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ABC5-343E-4A69-8AB9-D06AD543C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084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6559-64A0-4591-90FE-DCDD89975F7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ABC5-343E-4A69-8AB9-D06AD543C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52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0606559-64A0-4591-90FE-DCDD89975F7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95CAABC5-343E-4A69-8AB9-D06AD543C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668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T_wave" TargetMode="External"/><Relationship Id="rId5" Type="http://schemas.openxmlformats.org/officeDocument/2006/relationships/hyperlink" Target="https://en.wikipedia.org/wiki/QRS_complex" TargetMode="External"/><Relationship Id="rId4" Type="http://schemas.openxmlformats.org/officeDocument/2006/relationships/hyperlink" Target="https://en.wikipedia.org/wiki/P_wave_(electrocardiography)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371BD-7351-093C-CC18-2B1C4D2AB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0"/>
            <a:ext cx="9906000" cy="2397760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rgbClr val="FF0000"/>
                </a:solidFill>
              </a:rPr>
              <a:t>ECG Monitoring System using AD8232 and Arduino UNO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A3631-8D73-B1FC-797D-F5E2151F9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520" y="2588506"/>
            <a:ext cx="9316720" cy="3273814"/>
          </a:xfrm>
        </p:spPr>
        <p:txBody>
          <a:bodyPr/>
          <a:lstStyle/>
          <a:p>
            <a:pPr algn="l"/>
            <a:r>
              <a:rPr lang="en-IN" sz="3200" b="1" dirty="0"/>
              <a:t>Course Instructor: Dr. SIBASANKAR PADHY</a:t>
            </a:r>
          </a:p>
          <a:p>
            <a:pPr algn="l"/>
            <a:r>
              <a:rPr lang="en-IN" sz="3200" b="1" dirty="0"/>
              <a:t>Group Members:-</a:t>
            </a:r>
          </a:p>
          <a:p>
            <a:pPr algn="l"/>
            <a:r>
              <a:rPr lang="en-IN" dirty="0" err="1"/>
              <a:t>G.Hasitha</a:t>
            </a:r>
            <a:r>
              <a:rPr lang="en-IN" dirty="0"/>
              <a:t> – 24BEC012</a:t>
            </a:r>
          </a:p>
          <a:p>
            <a:pPr algn="l"/>
            <a:r>
              <a:rPr lang="en-IN" dirty="0" err="1"/>
              <a:t>M.Lakshmi</a:t>
            </a:r>
            <a:r>
              <a:rPr lang="en-IN" dirty="0"/>
              <a:t> Prasanna – 24BEC022</a:t>
            </a:r>
          </a:p>
          <a:p>
            <a:pPr algn="l"/>
            <a:r>
              <a:rPr lang="en-IN" dirty="0" err="1"/>
              <a:t>P.Bashitha</a:t>
            </a:r>
            <a:r>
              <a:rPr lang="en-IN" dirty="0"/>
              <a:t> – 24BEC037</a:t>
            </a:r>
          </a:p>
          <a:p>
            <a:pPr algn="l"/>
            <a:r>
              <a:rPr lang="en-IN" dirty="0" err="1"/>
              <a:t>P.Sarupya</a:t>
            </a:r>
            <a:r>
              <a:rPr lang="en-IN" dirty="0"/>
              <a:t> – 24BEC039</a:t>
            </a:r>
          </a:p>
        </p:txBody>
      </p:sp>
    </p:spTree>
    <p:extLst>
      <p:ext uri="{BB962C8B-B14F-4D97-AF65-F5344CB8AC3E}">
        <p14:creationId xmlns:p14="http://schemas.microsoft.com/office/powerpoint/2010/main" val="43740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7FE3EC-A9F4-0B97-1D0D-00963B33E8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9760" y="-189424"/>
            <a:ext cx="10149840" cy="723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742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7C8B4F-902B-E755-76FC-729B0FCCA3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876" y="98323"/>
            <a:ext cx="10095271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416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DE6D4-5275-C974-5BD4-8565AA42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12178E-DAE0-567E-F784-1D3AA4B0C7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9432" y="98322"/>
            <a:ext cx="10515599" cy="608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92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19704-E9E1-72B2-00A9-01F9BEB26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FBFB91-8DF0-6AAF-49F5-8D2E3BD38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9433" y="30777"/>
            <a:ext cx="10284541" cy="646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155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51548-94E6-2D88-5D91-DE0B8FC67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319406"/>
            <a:ext cx="10515600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DA4E45-4896-E551-AD86-C8AA89DCBE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426" y="137652"/>
            <a:ext cx="11186651" cy="609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450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DF8A-2F4D-6191-5644-5383F75EA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BLOCK DIAGRAM</a:t>
            </a: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D811C81E-902B-792A-5C0D-EF7A355B19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7231" y="2154758"/>
            <a:ext cx="7382905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522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90733-7A36-A7F3-781A-87EA45958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5985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BB238B-9204-F8BE-7A4F-A6AD692F2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627" y="167148"/>
            <a:ext cx="10825315" cy="610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340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33604-4AC3-45CF-B913-5B6A1286A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2481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B2EFC5-361B-428C-87AB-291795CE8C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6142"/>
            <a:ext cx="9891252" cy="597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9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99D01-E198-7C7D-437F-50D027084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04257F-05BB-2507-7245-95813FE2A7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8762" y="155205"/>
            <a:ext cx="10933834" cy="633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42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03E62E3-0000-BBAD-3B27-5D02FEEE1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26" y="1420307"/>
            <a:ext cx="4852851" cy="40547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1E09F8-B05E-D36D-43A4-C46B44ED8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706" y="1063544"/>
            <a:ext cx="5331454" cy="35287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AD13BCB-1282-E3B8-071D-FDC2E90B1A95}"/>
              </a:ext>
            </a:extLst>
          </p:cNvPr>
          <p:cNvSpPr txBox="1"/>
          <p:nvPr/>
        </p:nvSpPr>
        <p:spPr>
          <a:xfrm>
            <a:off x="5194306" y="4734560"/>
            <a:ext cx="5892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</a:t>
            </a:r>
            <a:r>
              <a:rPr lang="en-US" b="0" i="0" dirty="0">
                <a:effectLst/>
                <a:latin typeface="Arial" panose="020B0604020202020204" pitchFamily="34" charset="0"/>
              </a:rPr>
              <a:t> 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hlinkClick r:id="rId4" tooltip="P wave (electrocardiography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 wave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which represents depolarization of the atria.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hlinkClick r:id="rId5" tooltip="QRS compl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QRS complex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which represents depolarization of the </a:t>
            </a:r>
            <a:r>
              <a:rPr lang="en-US" dirty="0">
                <a:latin typeface="Arial" panose="020B0604020202020204" pitchFamily="34" charset="0"/>
              </a:rPr>
              <a:t>ventricles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hlinkClick r:id="rId6" tooltip="T wav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 wave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which represents repolarization of the ventricles.</a:t>
            </a:r>
          </a:p>
        </p:txBody>
      </p:sp>
    </p:spTree>
    <p:extLst>
      <p:ext uri="{BB962C8B-B14F-4D97-AF65-F5344CB8AC3E}">
        <p14:creationId xmlns:p14="http://schemas.microsoft.com/office/powerpoint/2010/main" val="1493523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B3137B-F51A-A4FA-892F-F68FD86E5F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" y="344351"/>
            <a:ext cx="5398135" cy="61692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1B8DC9-49B1-FF20-8AB7-0E5E90DA0097}"/>
              </a:ext>
            </a:extLst>
          </p:cNvPr>
          <p:cNvSpPr txBox="1"/>
          <p:nvPr/>
        </p:nvSpPr>
        <p:spPr>
          <a:xfrm>
            <a:off x="5811520" y="1409621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Electrical Activity of the Heart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red dot represents the </a:t>
            </a:r>
            <a:r>
              <a:rPr lang="en-US" b="1" dirty="0"/>
              <a:t>SA Node (Sinoatrial Node)</a:t>
            </a:r>
            <a:r>
              <a:rPr lang="en-US" dirty="0"/>
              <a:t>, the natural pacemaker of the heart.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generates an electrical impulse that starts in the </a:t>
            </a:r>
            <a:r>
              <a:rPr lang="en-US" b="1" dirty="0"/>
              <a:t>right atrium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impulse spreads across both atria, causing them to </a:t>
            </a:r>
            <a:r>
              <a:rPr lang="en-US" b="1" dirty="0"/>
              <a:t>contract (P wave)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then travels to the </a:t>
            </a:r>
            <a:r>
              <a:rPr lang="en-US" b="1" dirty="0"/>
              <a:t>AV node</a:t>
            </a:r>
            <a:r>
              <a:rPr lang="en-US" dirty="0"/>
              <a:t> and moves down to the ventricles.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causes the ventricles to </a:t>
            </a:r>
            <a:r>
              <a:rPr lang="en-US" b="1" dirty="0"/>
              <a:t>contract (QRS complex)</a:t>
            </a:r>
            <a:r>
              <a:rPr lang="en-US" dirty="0"/>
              <a:t> and pump blood.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Finally, the heart muscles </a:t>
            </a:r>
            <a:r>
              <a:rPr lang="en-US" b="1" dirty="0"/>
              <a:t>relax (T wave)</a:t>
            </a:r>
            <a:r>
              <a:rPr lang="en-US" dirty="0"/>
              <a:t>, completing one cardiac cycle. </a:t>
            </a:r>
          </a:p>
        </p:txBody>
      </p:sp>
    </p:spTree>
    <p:extLst>
      <p:ext uri="{BB962C8B-B14F-4D97-AF65-F5344CB8AC3E}">
        <p14:creationId xmlns:p14="http://schemas.microsoft.com/office/powerpoint/2010/main" val="3047332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EF78DB-3E54-5A5F-C171-42E3A305C0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" t="2506" b="5302"/>
          <a:stretch>
            <a:fillRect/>
          </a:stretch>
        </p:blipFill>
        <p:spPr>
          <a:xfrm>
            <a:off x="81280" y="269934"/>
            <a:ext cx="12029440" cy="631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513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87D421-239C-02ED-7A09-021544712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434" y="672484"/>
            <a:ext cx="7911131" cy="61855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345AF4-E1DF-8D90-231A-2961165C1E9D}"/>
              </a:ext>
            </a:extLst>
          </p:cNvPr>
          <p:cNvSpPr txBox="1"/>
          <p:nvPr/>
        </p:nvSpPr>
        <p:spPr>
          <a:xfrm>
            <a:off x="4480560" y="177800"/>
            <a:ext cx="2499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CODE EXPLANATION:</a:t>
            </a:r>
          </a:p>
        </p:txBody>
      </p:sp>
    </p:spTree>
    <p:extLst>
      <p:ext uri="{BB962C8B-B14F-4D97-AF65-F5344CB8AC3E}">
        <p14:creationId xmlns:p14="http://schemas.microsoft.com/office/powerpoint/2010/main" val="1273378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17F42-661E-3C93-9987-6A362A5B1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1497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20CB05-E615-491E-FC58-8A3F980714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8490" y="-63127"/>
            <a:ext cx="11442289" cy="720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35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BAA66-55AE-6C97-A49D-A5A082F90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823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7DF757-647D-CCEC-0AA1-FC82CAB439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920" y="-241163"/>
            <a:ext cx="11265310" cy="779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033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B9130-54BC-D27F-D9CA-0FD339F89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Video Demonstration</a:t>
            </a:r>
          </a:p>
        </p:txBody>
      </p:sp>
      <p:pic>
        <p:nvPicPr>
          <p:cNvPr id="4" name="ECG DEMONSTRATION">
            <a:hlinkClick r:id="" action="ppaction://media"/>
            <a:extLst>
              <a:ext uri="{FF2B5EF4-FFF2-40B4-BE49-F238E27FC236}">
                <a16:creationId xmlns:a16="http://schemas.microsoft.com/office/drawing/2014/main" id="{09C91C80-AB4C-34F3-B504-BE1FC551B0AA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52663" y="1620838"/>
            <a:ext cx="8048625" cy="4556125"/>
          </a:xfrm>
        </p:spPr>
      </p:pic>
    </p:spTree>
    <p:extLst>
      <p:ext uri="{BB962C8B-B14F-4D97-AF65-F5344CB8AC3E}">
        <p14:creationId xmlns:p14="http://schemas.microsoft.com/office/powerpoint/2010/main" val="4285220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61</TotalTime>
  <Words>172</Words>
  <Application>Microsoft Office PowerPoint</Application>
  <PresentationFormat>Widescreen</PresentationFormat>
  <Paragraphs>20</Paragraphs>
  <Slides>17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Corbel</vt:lpstr>
      <vt:lpstr>Basis</vt:lpstr>
      <vt:lpstr>ECG Monitoring System using AD8232 and Arduino UNO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BLOCK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Video Demonstration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Gasthi Hasitha</dc:creator>
  <cp:lastModifiedBy>Sai Bashitha Pamarthi</cp:lastModifiedBy>
  <cp:revision>4</cp:revision>
  <dcterms:created xsi:type="dcterms:W3CDTF">2026-04-13T07:29:10Z</dcterms:created>
  <dcterms:modified xsi:type="dcterms:W3CDTF">2026-04-22T19:07:49Z</dcterms:modified>
</cp:coreProperties>
</file>